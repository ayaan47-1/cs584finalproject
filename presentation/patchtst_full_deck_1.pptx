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0"/>
            <a:ext cx="4754880" cy="36576"/>
          </a:xfrm>
          <a:prstGeom prst="rect">
            <a:avLst/>
          </a:prstGeom>
          <a:solidFill>
            <a:srgbClr val="FBA9A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474720"/>
            <a:ext cx="42976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4754880"/>
            <a:ext cx="3840480" cy="36576"/>
          </a:xfrm>
          <a:prstGeom prst="rect">
            <a:avLst/>
          </a:prstGeom>
          <a:solidFill>
            <a:srgbClr val="FBA9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4160520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4160520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4160520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3063240" y="4160520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4160520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4160520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6217920" y="2926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A8B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 Forecasting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73152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Ayaan Khan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CS584 · Spring 2026 · Illinois 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time series forecasting faces two compounding challenges.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21031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73152" cy="21031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O(L²) attention cost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complexity limits how far back the model can look. Long look-back windows — often the most useful in time series — become prohibitively expensive.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486400" cy="21031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011680"/>
            <a:ext cx="73152" cy="21031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Point-wise tokens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46520" y="3246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timesteps carry no semantic meaning — unlike words. Real patterns live at the subsequence level, invisible to point-wise attention.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155680" cy="1554480"/>
          </a:xfrm>
          <a:prstGeom prst="rect">
            <a:avLst/>
          </a:prstGeom>
          <a:solidFill>
            <a:srgbClr val="16233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00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AWKWARD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120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 et al. (2023) showed that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DLinear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simple decomposition + linear projection — beats Informer, Autoformer, and FEDformer on these benchmarks.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real question: can a Transformer actually win here — and if so, why?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on Transformers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vanilla Transformers struggle with time series.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420624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" cy="4206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LIMITATION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Point-wise attention misses local structure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Transformers attend over individual timesteps. But a single timestamp has no semantic content the way a word in a sentence does.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patterns that actually drive forecasting accuracy — trends, cycles, shocks — live at the subsequence level. Point-wise attention is blind to them.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486400" cy="420624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011680"/>
            <a:ext cx="54864" cy="4206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CROSS-VARIATE MIXING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3774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Informer, FEDformer &amp; Autoformer overfit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46520" y="352044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Transformers embed all variables at each timestep into a single token. The model is then forced to learn correlations across channels that may not exist.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small datasets like ETT (~17K points), this produces classic spurious-correlation overfitting.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PatchTST's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simple ideas that fix both problems at once.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420624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73152" cy="4206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consecutive timesteps into patches — ViT for time series.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336 → 41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with patch_len=16, stride=8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5074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O(L²) → O((L/S)²)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67× reduction in attention cost.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486400" cy="420624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011680"/>
            <a:ext cx="73152" cy="4206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Independence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channels share a backbone, but never attend to each other.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8404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spurious cross-variate overfitting.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weights generalize across all C variables.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multiplies training samples by C.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RevIN → patches → Transformer encoder → flat head → forecast.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3728" y="2286000"/>
            <a:ext cx="1691640" cy="16459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5168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3728" y="2743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5168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336, 7)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73656" y="3108960"/>
            <a:ext cx="146304" cy="0"/>
          </a:xfrm>
          <a:prstGeom prst="line">
            <a:avLst/>
          </a:prstGeom>
          <a:noFill/>
          <a:ln w="15875">
            <a:solidFill>
              <a:srgbClr val="7A8BA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38248" y="2286000"/>
            <a:ext cx="1691640" cy="16459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8248" y="2286000"/>
            <a:ext cx="16916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2529688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38248" y="2743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29688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48176" y="3108960"/>
            <a:ext cx="146304" cy="0"/>
          </a:xfrm>
          <a:prstGeom prst="line">
            <a:avLst/>
          </a:prstGeom>
          <a:noFill/>
          <a:ln w="15875">
            <a:solidFill>
              <a:srgbClr val="7A8BA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12768" y="2286000"/>
            <a:ext cx="1691640" cy="16459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4208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12768" y="2743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Embed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04208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16→128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 enc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2696" y="3108960"/>
            <a:ext cx="146304" cy="0"/>
          </a:xfrm>
          <a:prstGeom prst="line">
            <a:avLst/>
          </a:prstGeom>
          <a:noFill/>
          <a:ln w="15875">
            <a:solidFill>
              <a:srgbClr val="7A8BA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87288" y="2286000"/>
            <a:ext cx="1691640" cy="16459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728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7288" y="2743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78728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heads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97216" y="3108960"/>
            <a:ext cx="146304" cy="0"/>
          </a:xfrm>
          <a:prstGeom prst="line">
            <a:avLst/>
          </a:prstGeom>
          <a:noFill/>
          <a:ln w="15875">
            <a:solidFill>
              <a:srgbClr val="7A8BA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61808" y="2286000"/>
            <a:ext cx="1691640" cy="16459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3248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1808" y="2743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 Head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153248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71736" y="3108960"/>
            <a:ext cx="146304" cy="0"/>
          </a:xfrm>
          <a:prstGeom prst="line">
            <a:avLst/>
          </a:prstGeom>
          <a:noFill/>
          <a:ln w="15875">
            <a:solidFill>
              <a:srgbClr val="7A8BA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936328" y="2286000"/>
            <a:ext cx="1691640" cy="16459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27768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36328" y="2743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Denorm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27768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×σ + 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846320"/>
            <a:ext cx="11155680" cy="1280160"/>
          </a:xfrm>
          <a:prstGeom prst="rect">
            <a:avLst/>
          </a:prstGeom>
          <a:solidFill>
            <a:srgbClr val="16233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0749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itself is a standard pre-norm Transformer.  </a:t>
            </a:r>
            <a:pPr indent="0" marL="0">
              <a:buNone/>
            </a:pPr>
            <a:r>
              <a:rPr lang="en-US" sz="15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 lives in steps 2 and 3 — how the input is normalized and tokenized.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Details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in PyTorch. No HuggingFace, no author code.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86400" cy="429768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6120" y="2514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n_heads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6120" y="2834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n_layers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d_ffn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3474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3794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patch_len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4114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4434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754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4754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074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5074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 → 1e-6 (cosine)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394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46120" y="5394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10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1965960"/>
            <a:ext cx="5486400" cy="201168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965960"/>
            <a:ext cx="73152" cy="2011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2468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sec / epoch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446520" y="3246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M4 Pro (24GB) · PyTorch MPS backend · 7.5× faster than CPU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4251960"/>
            <a:ext cx="5486400" cy="201168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251960"/>
            <a:ext cx="73152" cy="2011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4370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 WORKAROUNDS (PyTorch 2.8)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47091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unfold() returns non-contiguous views → crashes nn.Linear on MPS. Fix: .contiguous().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nn.TransformerEncoderLayer MPS crash on certain dims. Fix: custom MHSA using F.scaled_dot_product_attention.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RevIN Normalization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Instance Normalization — the single most impactful component.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86400" cy="429768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73152" cy="4297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shift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data is non-stationary. Mean and variance drift over the 17,420 timesteps.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1–12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13–16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17–20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window sees a different distribution. Model trained on one struggles on another.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486400" cy="429768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965960"/>
            <a:ext cx="73152" cy="4297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Per-window normalize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465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μ, σ per window (cache them)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0" y="3675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input to zero mean / unit var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4151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γ, β for recoverable scale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46268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in normalized space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5102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 output: ŷ × σ + μ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&amp; Training Protocol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ETT benchmark. Standard splits. Standard horizons.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14173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17,420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TIMESTEPS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127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years of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611880" cy="14173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48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2880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127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load vars + oil temp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611880" cy="141732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1488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66760" y="2880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66760" y="3127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 192, 336, 720 steps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486400" cy="1325880"/>
          </a:xfrm>
          <a:prstGeom prst="rect">
            <a:avLst/>
          </a:prstGeom>
          <a:solidFill>
            <a:srgbClr val="162338"/>
          </a:solidFill>
          <a:ln w="6350">
            <a:solidFill>
              <a:srgbClr val="3A4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94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ETTh1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Transformer Temperature. Relatively stationary — train and test distributions align.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486400" cy="1325880"/>
          </a:xfrm>
          <a:prstGeom prst="rect">
            <a:avLst/>
          </a:prstGeom>
          <a:solidFill>
            <a:srgbClr val="162338"/>
          </a:solidFill>
          <a:ln w="6350">
            <a:solidFill>
              <a:srgbClr val="3A4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794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ETTh2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4206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sensors, different transformer. Real distributional shift between train and test periods.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155680" cy="1005840"/>
          </a:xfrm>
          <a:prstGeom prst="rect">
            <a:avLst/>
          </a:prstGeom>
          <a:solidFill>
            <a:srgbClr val="0F1B2D"/>
          </a:solidFill>
          <a:ln w="6350">
            <a:solidFill>
              <a:srgbClr val="3A4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2578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 train   ·   4 mo val   ·   4 mo test       </a:t>
            </a:r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MAE in z-score space (matches paper protocol)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MSE on ETTh1 and ETTh2. Lower is better. Winners per row in coral.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2011680"/>
                <a:gridCol w="2194560"/>
                <a:gridCol w="2011680"/>
                <a:gridCol w="1920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PatchTST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PatchTST + RevIN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PatchTST+RevIN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PatchTST+RevIN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PatchTST+RevIN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PatchTST+RevIN wins 3 of 4 ETTh2 horizons — 23% better than DLinear at h=720. Without RevIN, DLinear wins all 8 combinations.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Finding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PatchTST+RevIN wins on ETTh2 but not ETTh1.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420624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ETTH1  ·  STATIONARY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DLinear wins all 4 horizons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distributions align closely. RevIN has nothing to correct — in fact, it adds noise at long horizons because the denorm step applies look-back stats that don't match the forecast period.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near-linear, a linear model genuinely is the right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486400" cy="4206240"/>
          </a:xfrm>
          <a:prstGeom prst="rect">
            <a:avLst/>
          </a:prstGeom>
          <a:solidFill>
            <a:srgbClr val="0F1B2D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ETTH2  ·  DISTRIBUTION SHIFT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514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PatchTST+RevIN wins 3 of 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32918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temperature and load patterns evolve across the time span. RevIN re-anchors each window at inference, regardless of absolute level.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h=720, that translates to a 23% MSE improvement over DLinear — and the gap grows with horizon.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00800"/>
            <a:ext cx="11155680" cy="0"/>
          </a:xfrm>
          <a:prstGeom prst="rect">
            <a:avLst/>
          </a:prstGeom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Ablation: Patch Length &amp; Stride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ETTh1, horizon = 96. Patch length essentially tied; stride=16 is the real winner.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 Length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Len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n_patches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(default)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Stride</a:t>
            </a:r>
            <a:endParaRPr lang="en-US" sz="2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7744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n_patches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(default)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(best)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120640"/>
            <a:ext cx="11247120" cy="1371600"/>
          </a:xfrm>
          <a:prstGeom prst="rect">
            <a:avLst/>
          </a:prstGeom>
          <a:solidFill>
            <a:srgbClr val="16233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52578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length: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values within 0.3% of each other — PatchTST is robust to patch length choice in this regime.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Stride=16 (non-overlapping) clearly wins — fewer redundant tokens, better attention diversity.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 </a:t>
            </a:r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stride quadruples attention cost — less overlap is a double win (accuracy AND compute).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Ablation: Look-back Window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ETTh1, horizon = 96. Paper's default seq_len=336 wins. Performance degrades sharply at 512.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554480"/>
                <a:gridCol w="155448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seq_len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n_patches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0.4546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 (default, best)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56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920240"/>
            <a:ext cx="3749040" cy="4480560"/>
          </a:xfrm>
          <a:prstGeom prst="rect">
            <a:avLst/>
          </a:prstGeom>
          <a:solidFill>
            <a:srgbClr val="16233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83880" y="260604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improvement: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→ 192 → 336 each improves in turn (paper default wins).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reversal at 512: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+4.1% MSE vs 336 — longer is not always better.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breaks down: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head's parameter count scales with n_patches. At seq_len=512 it has ~6× more params than at 96 — overfits on 8,640 training samples.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vs. Published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ETTh1, normalized MSE. Both my models lag the paper by similar margins — points to training duration, not architecture.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1371600"/>
                <a:gridCol w="1188720"/>
                <a:gridCol w="237744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 (PatchTST+RevIN)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DLinear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DLinear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709160"/>
            <a:ext cx="3611880" cy="173736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4709160"/>
            <a:ext cx="73152" cy="1737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892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bug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5394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DLinear shows a similar gap. A PatchTST-only issue would leave DLinear alone.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4709160"/>
            <a:ext cx="3611880" cy="173736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0" y="4709160"/>
            <a:ext cx="73152" cy="1737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8"/>
          <p:cNvSpPr/>
          <p:nvPr/>
        </p:nvSpPr>
        <p:spPr>
          <a:xfrm>
            <a:off x="4526280" y="4892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duration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26280" y="5394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(patience=10) terminates at epoch 20–40. Paper trains longer with full cosine schedule.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92440" y="4709160"/>
            <a:ext cx="3611880" cy="1737360"/>
          </a:xfrm>
          <a:prstGeom prst="rect">
            <a:avLst/>
          </a:prstGeom>
          <a:solidFill>
            <a:srgbClr val="0F1B2D"/>
          </a:solidFill>
          <a:ln w="9525">
            <a:solidFill>
              <a:srgbClr val="3A4A6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92440" y="4709160"/>
            <a:ext cx="73152" cy="17373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8321040" y="4892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Relative rankings hold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21040" y="5394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ordering matches the paper — which is what the architectural comparison actually tests.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takeaways from implementing PatchTST from scratch.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RevIN is the most impactful component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gain at ETTh2 h=720. Marginal on stationary ETTh1.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11155680" cy="0"/>
          </a:xfrm>
          <a:prstGeom prst="line">
            <a:avLst/>
          </a:prstGeom>
          <a:noFill/>
          <a:ln w="6350">
            <a:solidFill>
              <a:srgbClr val="3A4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2788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PatchTST+RevIN validates the paper on ETTh2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788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3 of 4 horizons. Transformer + right normalization beats DLinear on harder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93592"/>
            <a:ext cx="11155680" cy="0"/>
          </a:xfrm>
          <a:prstGeom prst="line">
            <a:avLst/>
          </a:prstGeom>
          <a:noFill/>
          <a:ln w="6350">
            <a:solidFill>
              <a:srgbClr val="3A4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11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3611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RevIN, DLinear wins everywhere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3611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wins across 8 combinations. Transformer capacity alone is not enough.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16552"/>
            <a:ext cx="11155680" cy="0"/>
          </a:xfrm>
          <a:prstGeom prst="line">
            <a:avLst/>
          </a:prstGeom>
          <a:noFill/>
          <a:ln w="6350">
            <a:solidFill>
              <a:srgbClr val="3A4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371600" y="4434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Larger stride reduces error (and compute)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9360" y="4434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patches win on both axes — fewer redundant tokens.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39512"/>
            <a:ext cx="11155680" cy="0"/>
          </a:xfrm>
          <a:prstGeom prst="line">
            <a:avLst/>
          </a:prstGeom>
          <a:noFill/>
          <a:ln w="6350">
            <a:solidFill>
              <a:srgbClr val="3A4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57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37160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Look-back gains saturate beyond 336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0936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improvement up to paper default, then sharp overfitting at seq_len=512.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993392"/>
            <a:ext cx="1463040" cy="457200"/>
          </a:xfrm>
          <a:prstGeom prst="rect">
            <a:avLst/>
          </a:prstGeom>
          <a:solidFill>
            <a:srgbClr val="0F1B2D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993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03120" y="19202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Nie, Nguyen, Sinthong &amp; Kalagnanam. A Time Series is Worth 64 Words: Long-term Forecasting with Transformers. ICLR 2023.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463040" cy="457200"/>
          </a:xfrm>
          <a:prstGeom prst="rect">
            <a:avLst/>
          </a:prstGeom>
          <a:solidFill>
            <a:srgbClr val="0F1B2D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DLinear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257860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Zeng, Chen, Zhang &amp; Xu. Are Transformers Effective for Time Series Forecasting? AAAI 2023.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463040" cy="457200"/>
          </a:xfrm>
          <a:prstGeom prst="rect">
            <a:avLst/>
          </a:prstGeom>
          <a:solidFill>
            <a:srgbClr val="0F1B2D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10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3236976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Reversible Instance Normalization for Accurate Time-Series Forecasting against Distribution Shift. ICLR 2022.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1463040" cy="457200"/>
          </a:xfrm>
          <a:prstGeom prst="rect">
            <a:avLst/>
          </a:prstGeom>
          <a:solidFill>
            <a:srgbClr val="0F1B2D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68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3895344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Dosovitskiy et al. An Image is Worth 16×16 Words: Transformers for Image Recognition at Scale. ICLR 2021.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26864"/>
            <a:ext cx="1463040" cy="457200"/>
          </a:xfrm>
          <a:prstGeom prst="rect">
            <a:avLst/>
          </a:prstGeom>
          <a:solidFill>
            <a:srgbClr val="0F1B2D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268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455371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 Informer: Beyond Efficient Transformer for Long Sequence Time-Series Forecasting. AAAI 2021.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85232"/>
            <a:ext cx="1463040" cy="457200"/>
          </a:xfrm>
          <a:prstGeom prst="rect">
            <a:avLst/>
          </a:prstGeom>
          <a:solidFill>
            <a:srgbClr val="0F1B2D"/>
          </a:solidFill>
          <a:ln w="9525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2852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FEDformer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03120" y="521208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 FEDformer: Frequency Enhanced Decomposed Transformer for Long-term Series Forecasting. ICML 2022.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PatchTST: Long-Term Time Series Forecasting</dc:title>
  <dc:subject>PptxGenJS Presentation</dc:subject>
  <dc:creator>Ayaan Khan</dc:creator>
  <cp:lastModifiedBy>Ayaan Khan</cp:lastModifiedBy>
  <cp:revision>1</cp:revision>
  <dcterms:created xsi:type="dcterms:W3CDTF">2026-04-21T03:42:13Z</dcterms:created>
  <dcterms:modified xsi:type="dcterms:W3CDTF">2026-04-21T03:42:13Z</dcterms:modified>
</cp:coreProperties>
</file>